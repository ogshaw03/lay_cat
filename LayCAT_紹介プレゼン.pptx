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9" r:id="rId20"/>
    <p:sldId id="270" r:id="rId21"/>
    <p:sldId id="271" r:id="rId22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  <Relationship Id="rId20" Type="http://schemas.openxmlformats.org/officeDocument/2006/relationships/slide" Target="slides/slide14.xml"/>
  <Relationship Id="rId21" Type="http://schemas.openxmlformats.org/officeDocument/2006/relationships/slide" Target="slides/slide15.xml"/>
  <Relationship Id="rId22" Type="http://schemas.openxmlformats.org/officeDocument/2006/relationships/slide" Target="slides/slide16.xml"/>
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91440" cy="6858000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>
                <a:solidFill>
                  <a:srgbClr val="F2F3F7"/>
                </a:solidFill>
                <a:latin typeface="Meiryo"/>
                <a:ea typeface="Meiryo"/>
              </a:rPr>
              <a:t>LayCAT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24612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9A9AAA"/>
                </a:solidFill>
                <a:latin typeface="Meiryo"/>
                <a:ea typeface="Meiryo"/>
              </a:rPr>
              <a:t>映像制作のための </a:t>
            </a:r>
            <a:r>
              <a:rPr sz="2200" b="1">
                <a:solidFill>
                  <a:srgbClr val="5A9BFF"/>
                </a:solidFill>
                <a:latin typeface="Meiryo"/>
                <a:ea typeface="Meiryo"/>
              </a:rPr>
              <a:t>レビュー ＆ 進行管理ツール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114800"/>
            <a:ext cx="10241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9AAA"/>
                </a:solidFill>
                <a:latin typeface="Meiryo"/>
                <a:ea typeface="Meiryo"/>
              </a:rPr>
              <a:t>動画への描き込み、進捗の見える化、チェックの割り振り、連続再生まで。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9AAA"/>
                </a:solidFill>
                <a:latin typeface="Meiryo"/>
                <a:ea typeface="Meiryo"/>
              </a:rPr>
              <a:t>制作のやり取りを、これ1つで。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943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A"/>
                </a:solidFill>
                <a:latin typeface="Meiryo"/>
                <a:ea typeface="Meiryo"/>
              </a:rPr>
              <a:t>ブラウザだけで動作／インストール不要　—　単一HTML・チーム共有対応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8A7A"/>
                </a:solidFill>
                <a:latin typeface="Meiryo"/>
                <a:ea typeface="Meiryo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こんな悩み、ありませんか？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92040" cy="160020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82880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066543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「 </a:t>
            </a:r>
            <a:r>
              <a:rPr sz="1600" b="1">
                <a:solidFill>
                  <a:srgbClr val="F2F3F7"/>
                </a:solidFill>
                <a:latin typeface="Meiryo"/>
                <a:ea typeface="Meiryo"/>
              </a:rPr>
              <a:t>「もう少し右」が伝わらない</a:t>
            </a: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 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87752"/>
            <a:ext cx="4251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口頭やメールの往復ばかりで、修正の意図がなかなか伝わらない。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4892040" cy="160020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82880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066543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「 </a:t>
            </a:r>
            <a:r>
              <a:rPr sz="1600" b="1">
                <a:solidFill>
                  <a:srgbClr val="F2F3F7"/>
                </a:solidFill>
                <a:latin typeface="Meiryo"/>
                <a:ea typeface="Meiryo"/>
              </a:rPr>
              <a:t>どのカットが、どこまで？</a:t>
            </a: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 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2587752"/>
            <a:ext cx="4251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進捗が見えず、Excel 管理や状況確認に手間がかかる。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03320"/>
            <a:ext cx="4892040" cy="160020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370332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3941063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「 </a:t>
            </a:r>
            <a:r>
              <a:rPr sz="1600" b="1">
                <a:solidFill>
                  <a:srgbClr val="F2F3F7"/>
                </a:solidFill>
                <a:latin typeface="Meiryo"/>
                <a:ea typeface="Meiryo"/>
              </a:rPr>
              <a:t>誰が確認する番？</a:t>
            </a: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 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62272"/>
            <a:ext cx="4251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チェックの抜け漏れや、二度手間が起きやすい。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703320"/>
            <a:ext cx="4892040" cy="160020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370332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3941063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「 </a:t>
            </a:r>
            <a:r>
              <a:rPr sz="1600" b="1">
                <a:solidFill>
                  <a:srgbClr val="F2F3F7"/>
                </a:solidFill>
                <a:latin typeface="Meiryo"/>
                <a:ea typeface="Meiryo"/>
              </a:rPr>
              <a:t>最新版はどれ？</a:t>
            </a: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 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4462272"/>
            <a:ext cx="4251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動画やコメントが散らばり、探すのに時間がかかる。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80644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9AAA"/>
                </a:solidFill>
                <a:latin typeface="Meiryo"/>
                <a:ea typeface="Meiryo"/>
              </a:rPr>
              <a:t>— その悩み、</a:t>
            </a:r>
            <a:r>
              <a:rPr sz="1500" b="1">
                <a:solidFill>
                  <a:srgbClr val="5A9BFF"/>
                </a:solidFill>
                <a:latin typeface="Meiryo"/>
                <a:ea typeface="Meiryo"/>
              </a:rPr>
              <a:t>LayCAT</a:t>
            </a:r>
            <a:r>
              <a:rPr sz="1500" b="0">
                <a:solidFill>
                  <a:srgbClr val="9A9AAA"/>
                </a:solidFill>
                <a:latin typeface="Meiryo"/>
                <a:ea typeface="Meiryo"/>
              </a:rPr>
              <a:t> がまとめて解決します。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LayCAT とは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429768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動画や画像を共有して、OK・リテイク・NG で判定できます。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動画のコマに直接描き込むアノテーションで、修正指示をそのまま伝えられます。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レイヤー・顔の向きガイドで、言葉にしづらい直しも的確に。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カットごとの進み具合が、ひと目でわかります。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作品ごとにフォルダへ保存してチームで共有。ブラウザだけで動作・インストール不要。</a:t>
            </a:r>
          </a:p>
        </p:txBody>
      </p:sp>
      <p:pic>
        <p:nvPicPr>
          <p:cNvPr id="6" name="Picture 5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2675062"/>
            <a:ext cx="6583680" cy="2605155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F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FFA0"/>
                </a:solidFill>
                <a:latin typeface="Meiryo"/>
                <a:ea typeface="Meiryo"/>
              </a:rPr>
              <a:t>TASK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タスクページ：カットごとの作業画面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1つのカットの工程を開く、作業の中心画面です。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「＋動画」でアップ。上げるたびに版（v1・v2…）が残ります。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動画ごとに、コメントや OK・リテイクの判定をやり取り。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ステータスや担当（作業・チェック）もここで設定します。</a:t>
            </a:r>
          </a:p>
        </p:txBody>
      </p:sp>
      <p:pic>
        <p:nvPicPr>
          <p:cNvPr id="6" name="Picture 5" descr="pre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262" y="1600200"/>
            <a:ext cx="6921795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STRENGTH 01 ／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アノテーション：レイヤー機能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動画のコマに、直接 絵で指示を描けます。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指示はレイヤーで分けられます（例：演出／作画／修正）。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レイヤーごとに、表示・非表示や削除ができます。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ブラシ・消しゴム・トレーシングペーパーなどを用意。</a:t>
            </a:r>
          </a:p>
        </p:txBody>
      </p:sp>
      <p:pic>
        <p:nvPicPr>
          <p:cNvPr id="6" name="Picture 5" descr="pre_review_an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262" y="1600200"/>
            <a:ext cx="6921795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56BF0"/>
                </a:solidFill>
                <a:latin typeface="Meiryo"/>
                <a:ea typeface="Meiryo"/>
              </a:rPr>
              <a:t>STRENGTH 02 ／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動画への埋め込み ＆ 顔の向きガイド</a:t>
            </a:r>
          </a:p>
        </p:txBody>
      </p:sp>
      <p:pic>
        <p:nvPicPr>
          <p:cNvPr id="5" name="Picture 4" descr="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06281"/>
            <a:ext cx="6766560" cy="4342717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772400" y="1828800"/>
            <a:ext cx="39319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描いた指示はそのコマに保存され、再生すると自動で出ます。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コメント欄にも、縮小画像で残ります。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「顔の向きガイド」で、顔の向きを立体的に示せます。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ドラッグで、上下・左右・傾きを指定できます。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STRENGTH 03 ／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進捗管理：複数グラフの同時表示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エピソードごとの円グラフを、横に並べて表示します。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「工程」と「ステータス」の2種類を切り替えられます。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担当者でしぼり込めます。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作品全体の進み具合が、ひと目でわかります。</a:t>
            </a:r>
          </a:p>
        </p:txBody>
      </p:sp>
      <p:pic>
        <p:nvPicPr>
          <p:cNvPr id="6" name="Picture 5" descr="pr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903" y="1600200"/>
            <a:ext cx="5372512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STRENGTH 03 ／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ステータス別でも同時に比較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同じ画面で「ステータスグラフ」に切り替えられます。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チェック待ち・OK・リテイク・NG の割合を比較できます。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リテイクが多いエピソードなど、つまずきを見つけやすくなります。</a:t>
            </a:r>
          </a:p>
        </p:txBody>
      </p:sp>
      <p:pic>
        <p:nvPicPr>
          <p:cNvPr id="6" name="Picture 5" descr="prog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903" y="1600200"/>
            <a:ext cx="5372512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STRENGTH 04 ／ REVIEW QUEUE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チェック待ち：チェック担当者一覧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チェック担当者ごとに、タブで分かれます。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自分が見る番のカットだけを表示できます。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残り件数がバッジでわかり、見落としを防げます。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一覧のまま、ステータスを変えられます。</a:t>
            </a:r>
          </a:p>
        </p:txBody>
      </p:sp>
      <p:pic>
        <p:nvPicPr>
          <p:cNvPr id="6" name="Picture 5" descr="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262" y="1600200"/>
            <a:ext cx="6921795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56BF0"/>
                </a:solidFill>
                <a:latin typeface="Meiryo"/>
                <a:ea typeface="Meiryo"/>
              </a:rPr>
              <a:t>STRENGTH 05 ／ REEL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REEL：カットをつなげて連続再生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複数のカットをつなげて、連続再生できます。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並べ替えて、通しのテンポを確認できます。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REELで書いたコメント・アノテーションは、各カットのタスクページにそのまま反映されます。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つながり確認や試写に、そのまま使えます。</a:t>
            </a:r>
          </a:p>
        </p:txBody>
      </p:sp>
      <p:pic>
        <p:nvPicPr>
          <p:cNvPr id="6" name="Picture 5" descr="pre_r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0029" y="1600200"/>
            <a:ext cx="7016261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OTHER SCREENS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そのほかの主要画面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タイムライン（更新履歴）</a:t>
            </a:r>
          </a:p>
        </p:txBody>
      </p:sp>
      <p:pic>
        <p:nvPicPr>
          <p:cNvPr id="6" name="Picture 5" descr="pr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450813"/>
            <a:ext cx="3611880" cy="2505013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462272" y="173736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ショット一覧</a:t>
            </a:r>
          </a:p>
        </p:txBody>
      </p:sp>
      <p:pic>
        <p:nvPicPr>
          <p:cNvPr id="8" name="Picture 7" descr="sh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2450813"/>
            <a:ext cx="3611880" cy="2505013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238744" y="173736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サブミット（まとめて提出）</a:t>
            </a:r>
          </a:p>
        </p:txBody>
      </p:sp>
      <p:pic>
        <p:nvPicPr>
          <p:cNvPr id="10" name="Picture 9" descr="subm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8744" y="3010072"/>
            <a:ext cx="3611880" cy="1386495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85800" y="544068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A"/>
                </a:solidFill>
                <a:latin typeface="Meiryo"/>
                <a:ea typeface="Meiryo"/>
              </a:rPr>
              <a:t>更新はタイムラインに集まり、ショット一覧で最新版を見渡せます。提出は複数カットをまとめてサブミットへ。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91440" cy="6858000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3F7"/>
                </a:solidFill>
                <a:latin typeface="Meiryo"/>
                <a:ea typeface="Meiryo"/>
              </a:rPr>
              <a:t>まとめ：導入のメリット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920240"/>
            <a:ext cx="4892040" cy="192024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920240"/>
            <a:ext cx="91440" cy="1920240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176272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2F3F7"/>
                </a:solidFill>
                <a:latin typeface="Meiryo"/>
                <a:ea typeface="Meiryo"/>
              </a:rPr>
              <a:t>そのまま指示できる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697480"/>
            <a:ext cx="4343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動画に直接描き込み、レイヤーと顔の向きガイドで、直しが言葉なしで伝わります。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920240"/>
            <a:ext cx="4892040" cy="192024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920240"/>
            <a:ext cx="91440" cy="1920240"/>
          </a:xfrm>
          <a:prstGeom prst="rect">
            <a:avLst/>
          </a:prstGeom>
          <a:solidFill>
            <a:srgbClr val="5AF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176272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2F3F7"/>
                </a:solidFill>
                <a:latin typeface="Meiryo"/>
                <a:ea typeface="Meiryo"/>
              </a:rPr>
              <a:t>進捗が見える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2697480"/>
            <a:ext cx="4343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グラフの同時表示と、担当者ごとのチェック待ちで、見落としを防げます。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160520"/>
            <a:ext cx="4892040" cy="192024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160520"/>
            <a:ext cx="91440" cy="1920240"/>
          </a:xfrm>
          <a:prstGeom prst="rect">
            <a:avLst/>
          </a:prstGeom>
          <a:solidFill>
            <a:srgbClr val="FFB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416552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2F3F7"/>
                </a:solidFill>
                <a:latin typeface="Meiryo"/>
                <a:ea typeface="Meiryo"/>
              </a:rPr>
              <a:t>チームで回る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937759"/>
            <a:ext cx="4343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フォルダ共有で1つのデータを共同運用。REELやサブミットでまとめて確認・提出。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160520"/>
            <a:ext cx="4892040" cy="192024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4160520"/>
            <a:ext cx="91440" cy="1920240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20840" y="4416552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2F3F7"/>
                </a:solidFill>
                <a:latin typeface="Meiryo"/>
                <a:ea typeface="Meiryo"/>
              </a:rPr>
              <a:t>導入がかんたん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4937759"/>
            <a:ext cx="4343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ブラウザだけで動作・インストール不要。単一HTMLで完結し、パスワード保護にも対応。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63550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A"/>
                </a:solidFill>
                <a:latin typeface="Meiryo"/>
                <a:ea typeface="Meiryo"/>
              </a:rPr>
              <a:t>公開URL：https://ogshaw03.github.io/laycat/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91440" cy="6858000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aycat_icon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8407" y="1325880"/>
            <a:ext cx="4754880" cy="26683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3900000"/>
            <a:ext cx="10360152" cy="1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700"/>
              </a:spcAft>
            </a:pPr>
            <a:r>
              <a:rPr sz="2800" b="1">
                <a:solidFill>
                  <a:srgbClr val="F2F3F7"/>
                </a:solidFill>
                <a:latin typeface="Meiryo"/>
                <a:ea typeface="Meiryo"/>
              </a:rPr>
              <a:t>「もう少し右」を、絵で伝える。</a:t>
            </a:r>
          </a:p>
          <a:p>
            <a:pPr algn="ctr">
              <a:spcAft>
                <a:spcPts val="700"/>
              </a:spcAft>
            </a:pPr>
            <a:r>
              <a:rPr sz="1600" b="0">
                <a:solidFill>
                  <a:srgbClr val="C7C7CF"/>
                </a:solidFill>
                <a:latin typeface="Meiryo"/>
                <a:ea typeface="Meiryo"/>
              </a:rPr>
              <a:t>動画レビュー・EXR・進捗管理、ぜんぶブラウザ 1 つで。</a:t>
            </a:r>
          </a:p>
          <a:p>
            <a:pPr algn="ctr">
              <a:spcAft>
                <a:spcPts val="0"/>
              </a:spcAft>
            </a:pPr>
            <a:r>
              <a:rPr sz="2200" b="1">
                <a:solidFill>
                  <a:srgbClr val="5A9BFF"/>
                </a:solidFill>
                <a:latin typeface="Meiryo"/>
                <a:ea typeface="Meiryo"/>
              </a:rPr>
              <a:t>LayCAT が、現場のやりとりを軽くします。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263640"/>
            <a:ext cx="1036015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5A9BFF"/>
                </a:solidFill>
                <a:latin typeface="Meiryo"/>
              </a:rPr>
              <a:t>https://ogshaw03.github.io/laycat/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56BF0"/>
                </a:solidFill>
                <a:latin typeface="Meiryo"/>
                <a:ea typeface="Meiryo"/>
              </a:rPr>
              <a:t>STRENGTH 06 ／ EXR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EXR：Nuke なしで多層 EXR をブラウザで直接プレビュー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44000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CG レンダーの中間ファイル（.exr）を、専用ビューアなしでブラウザから直接プレビューできます。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多数のレイヤー（AOV）を含む多層 EXR にも対応。Nuke／Arnold／Redshift／V-Ray いずれの書き出しでも読み込み可能。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露出（EV）／ガンマ／Depth の黒白点／反転を、その場でスライダや数値入力で調整。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見たいレイヤーはドロップダウンで即切替。そのままフレームコメントやアノテーションを描き込めます。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書き出し直後の .exr をそのまま監督・PD に共有できるので、CG チームの手戻りが減ります。</a:t>
            </a:r>
          </a:p>
        </p:txBody>
      </p:sp>
      <p:pic>
        <p:nvPicPr>
          <p:cNvPr id="90" name="Picture 15" descr="exr_anno_cryp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0000" y="1900000"/>
            <a:ext cx="6800000" cy="38250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56BF0"/>
                </a:solidFill>
                <a:latin typeface="Meiryo"/>
                <a:ea typeface="Meiryo"/>
              </a:rPr>
              <a:t>STRENGTH 06 ／ EXR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あらゆる AOV レイヤーを自動判定して可視化＋タイル一覧表示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44000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Beauty（RGB）／ Depth（黒白点・反転付き）／ Normal（XYZ）を自動判定。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Motion Vector（動きの向き）／ UV パス／ Position パスも対応。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Cryptomatte（オブジェクト／アセット分離）にも対応。プレビュー &amp; ランク両方描画。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「🎨 全レイヤー」モーダルで、含まれる全レイヤーをタイル一覧で把握。</a:t>
            </a:r>
          </a:p>
        </p:txBody>
      </p:sp>
      <p:pic>
        <p:nvPicPr>
          <p:cNvPr id="90" name="Picture 13" descr="exr_all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0000" y="1900000"/>
            <a:ext cx="6800000" cy="38250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56BF0"/>
                </a:solidFill>
                <a:latin typeface="Meiryo"/>
                <a:ea typeface="Meiryo"/>
              </a:rPr>
              <a:t>STRENGTH 07 ／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Cloudflare R2 対応：フォルダ運用からクラウド運用へ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1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プロジェクトデータをクラウドストレージ（Cloudflare R2）に保存。ホーム画面のタイル一覧から即接続。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受付係（Worker）が招待メンバーかどうかを毎回チェックし、部外者は自動的にアクセス拒否。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ファイルサイズ制限＋アクセス履歴で安全運用。従来のフォルダ共有と併用可能。</a:t>
            </a:r>
          </a:p>
        </p:txBody>
      </p:sp>
      <p:pic>
        <p:nvPicPr>
          <p:cNvPr id="90" name="Picture 14" descr="r2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0959" y="2400000"/>
            <a:ext cx="7569777" cy="42580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