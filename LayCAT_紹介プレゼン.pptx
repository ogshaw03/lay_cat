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gRuoIKIT4Jrgd48/+EJ0xvmhwP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005840" y="214884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LayCAT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051560" y="324612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映像制作のための </a:t>
            </a:r>
            <a:r>
              <a:rPr b="1" i="0" lang="en-US" sz="22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レビュー ＆ 進行管理ツール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051560" y="4114800"/>
            <a:ext cx="10241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動画への描き込み、進捗の見える化、チェックの割り振り、連続再生まで。</a:t>
            </a:r>
            <a:endParaRPr/>
          </a:p>
          <a:p>
            <a:pPr indent="0" lvl="0" marL="0" marR="0" rtl="0"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制作のやり取りを、これ1つで。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1051560" y="59436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ブラウザだけで動作／インストール不要　—　単一HTML・チーム共有対応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PROBLEM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こんな悩み、ありませんか？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914400" y="182880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9144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280160" y="206654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「もう少し右」が伝わらない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280160" y="258775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口頭やメールの往復ばかりで、修正の意図がなかなか伝わらない。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400800" y="182880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82880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766560" y="206654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どのカットが、どこまで？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766560" y="258775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進捗が見えず、Excel 管理や状況確認に手間がかかる。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914400" y="370332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144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280160" y="394106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誰が確認する番？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280160" y="446227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チェックの抜け漏れや、二度手間が起きやすい。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6400800" y="3703320"/>
            <a:ext cx="4892040" cy="160020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6400800" y="3703320"/>
            <a:ext cx="91440" cy="16002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6766560" y="3941063"/>
            <a:ext cx="425195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「 </a:t>
            </a:r>
            <a:r>
              <a:rPr b="1" i="0" lang="en-US" sz="16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最新版はどれ？</a:t>
            </a:r>
            <a:r>
              <a:rPr b="1" i="0" lang="en-US" sz="1600" u="none" cap="none" strike="noStrike">
                <a:solidFill>
                  <a:srgbClr val="FF8A7A"/>
                </a:solidFill>
                <a:latin typeface="Meiryo"/>
                <a:ea typeface="Meiryo"/>
                <a:cs typeface="Meiryo"/>
                <a:sym typeface="Meiryo"/>
              </a:rPr>
              <a:t> 」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6766560" y="4462272"/>
            <a:ext cx="4251959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動画やコメントが散らばり、探すのに時間がかかる。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914400" y="5806440"/>
            <a:ext cx="10607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— その悩み、</a:t>
            </a:r>
            <a:r>
              <a:rPr b="1" i="0" lang="en-US" sz="15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LayCAT</a:t>
            </a:r>
            <a:r>
              <a:rPr b="0" i="0" lang="en-US" sz="15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 がまとめて解決します。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OVERVIEW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LayCAT とは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777240" y="1737360"/>
            <a:ext cx="429768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動画や画像を共有して、OK・リテイク・NG で判定できます。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動画のコマに直接描き込むアノテーションで、修正指示をそのまま伝えられます。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レイヤー・顔の向きガイドで、言葉にしづらい直しも的確に。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カットごとの進み具合が、ひと目でわかります。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作品ごとにフォルダへ保存してチームで共有。ブラウザだけで動作・インストール不要。</a:t>
            </a:r>
            <a:endParaRPr/>
          </a:p>
        </p:txBody>
      </p:sp>
      <p:pic>
        <p:nvPicPr>
          <p:cNvPr descr="home.png" id="124" name="Google Shape;1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12080" y="2675062"/>
            <a:ext cx="6583680" cy="2605155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5" name="Google Shape;125;p3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FF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FFA0"/>
                </a:solidFill>
                <a:latin typeface="Meiryo"/>
                <a:ea typeface="Meiryo"/>
                <a:cs typeface="Meiryo"/>
                <a:sym typeface="Meiryo"/>
              </a:rPr>
              <a:t>TASK PAGE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タスクページ：カットごとの作業画面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1つのカットの工程を開く、作業の中心画面です。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「＋動画」でアップ。上げるたびに版（v1・v2…）が残ります。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動画ごとに、コメントや OK・リテイクの判定をやり取り。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ステータスや担当（作業・チェック）もここで設定します。</a:t>
            </a:r>
            <a:endParaRPr/>
          </a:p>
        </p:txBody>
      </p:sp>
      <p:pic>
        <p:nvPicPr>
          <p:cNvPr descr="pre_task.png" id="134" name="Google Shape;13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7262" y="1600200"/>
            <a:ext cx="6921795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5" name="Google Shape;135;p4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01 ／ ANNOTATION</a:t>
            </a:r>
            <a:endParaRPr/>
          </a:p>
        </p:txBody>
      </p:sp>
      <p:sp>
        <p:nvSpPr>
          <p:cNvPr id="142" name="Google Shape;142;p5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アノテーション：レイヤー機能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動画のコマに、直接 絵で指示を描けます。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指示はレイヤーで分けられます（例：演出／作画／修正）。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レイヤーごとに、表示・非表示や削除ができます。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ブラシ・消しゴム・トレーシングペーパーなどを用意。</a:t>
            </a:r>
            <a:endParaRPr/>
          </a:p>
        </p:txBody>
      </p:sp>
      <p:pic>
        <p:nvPicPr>
          <p:cNvPr descr="pre_review_anno.png" id="144" name="Google Shape;14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7262" y="1600200"/>
            <a:ext cx="6921795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5" name="Google Shape;145;p5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02 ／ ANNOTATION</a:t>
            </a:r>
            <a:endParaRPr/>
          </a:p>
        </p:txBody>
      </p:sp>
      <p:sp>
        <p:nvSpPr>
          <p:cNvPr id="152" name="Google Shape;152;p6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動画への埋め込み ＆ 顔の向きガイド</a:t>
            </a:r>
            <a:endParaRPr/>
          </a:p>
        </p:txBody>
      </p:sp>
      <p:pic>
        <p:nvPicPr>
          <p:cNvPr descr="canvas.png" id="153" name="Google Shape;1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06281"/>
            <a:ext cx="6766560" cy="4342717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4" name="Google Shape;154;p6"/>
          <p:cNvSpPr txBox="1"/>
          <p:nvPr/>
        </p:nvSpPr>
        <p:spPr>
          <a:xfrm>
            <a:off x="7772400" y="1828800"/>
            <a:ext cx="39319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描いた指示はそのコマに保存され、再生すると自動で出ます。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コメント欄にも、縮小画像で残ります。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「顔の向きガイド」で、顔の向きを立体的に示せます。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ドラッグで、上下・左右・傾きを指定できます。</a:t>
            </a:r>
            <a:endParaRPr/>
          </a:p>
        </p:txBody>
      </p:sp>
      <p:sp>
        <p:nvSpPr>
          <p:cNvPr id="155" name="Google Shape;155;p6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03 ／ PROGRESS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進捗管理：複数グラフの同時表示</a:t>
            </a:r>
            <a:endParaRPr/>
          </a:p>
        </p:txBody>
      </p:sp>
      <p:sp>
        <p:nvSpPr>
          <p:cNvPr id="163" name="Google Shape;163;p7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エピソードごとの円グラフを、横に並べて表示します。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「工程」と「ステータス」の2種類を切り替えられます。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担当者でしぼり込めます。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作品全体の進み具合が、ひと目でわかります。</a:t>
            </a:r>
            <a:endParaRPr/>
          </a:p>
        </p:txBody>
      </p:sp>
      <p:pic>
        <p:nvPicPr>
          <p:cNvPr descr="prog.png" id="164" name="Google Shape;16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1903" y="1600200"/>
            <a:ext cx="5372512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5" name="Google Shape;165;p7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03 ／ PROGRESS</a:t>
            </a:r>
            <a:endParaRPr/>
          </a:p>
        </p:txBody>
      </p:sp>
      <p:sp>
        <p:nvSpPr>
          <p:cNvPr id="172" name="Google Shape;172;p8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ステータス別でも同時に比較</a:t>
            </a:r>
            <a:endParaRPr/>
          </a:p>
        </p:txBody>
      </p:sp>
      <p:sp>
        <p:nvSpPr>
          <p:cNvPr id="173" name="Google Shape;173;p8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同じ画面で「ステータスグラフ」に切り替えられます。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チェック待ち・OK・リテイク・NG の割合を比較できます。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リテイクが多いエピソードなど、つまずきを見つけやすくなります。</a:t>
            </a:r>
            <a:endParaRPr/>
          </a:p>
        </p:txBody>
      </p:sp>
      <p:pic>
        <p:nvPicPr>
          <p:cNvPr descr="progst.png" id="174" name="Google Shape;17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51903" y="1600200"/>
            <a:ext cx="5372512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5" name="Google Shape;175;p8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9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STRENGTH 04 ／ REVIEW QUEUE</a:t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チェック待ち：チェック担当者一覧</a:t>
            </a:r>
            <a:endParaRPr/>
          </a:p>
        </p:txBody>
      </p:sp>
      <p:sp>
        <p:nvSpPr>
          <p:cNvPr id="183" name="Google Shape;183;p9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チェック担当者ごとに、タブで分かれます。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自分が見る番のカットだけを表示できます。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残り件数がバッジでわかり、見落としを防げます。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一覧のまま、ステータスを変えられます。</a:t>
            </a:r>
            <a:endParaRPr/>
          </a:p>
        </p:txBody>
      </p:sp>
      <p:pic>
        <p:nvPicPr>
          <p:cNvPr descr="check.png" id="184" name="Google Shape;18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77262" y="1600200"/>
            <a:ext cx="6921795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5" name="Google Shape;185;p9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05 ／ REEL</a:t>
            </a:r>
            <a:endParaRPr/>
          </a:p>
        </p:txBody>
      </p:sp>
      <p:sp>
        <p:nvSpPr>
          <p:cNvPr id="192" name="Google Shape;192;p10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REEL：カットをつなげて連続再生</a:t>
            </a:r>
            <a:endParaRPr/>
          </a:p>
        </p:txBody>
      </p:sp>
      <p:sp>
        <p:nvSpPr>
          <p:cNvPr id="193" name="Google Shape;193;p10"/>
          <p:cNvSpPr txBox="1"/>
          <p:nvPr/>
        </p:nvSpPr>
        <p:spPr>
          <a:xfrm>
            <a:off x="777240" y="178308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複数のカットをつなげて、連続再生できます。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並べ替えて、通しのテンポを確認できます。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REELで書いたコメント・アノテーションは、各カットのタスクページにそのまま反映されます。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つながり確認や試写に、そのまま使えます。</a:t>
            </a:r>
            <a:endParaRPr/>
          </a:p>
        </p:txBody>
      </p:sp>
      <p:pic>
        <p:nvPicPr>
          <p:cNvPr descr="pre_reel.png" id="194" name="Google Shape;19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0029" y="1600200"/>
            <a:ext cx="7016261" cy="48006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5" name="Google Shape;195;p10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06 ／ EXR</a:t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EXR：Nuke なしで多層 EXR をブラウザで直接プレビュー</a:t>
            </a:r>
            <a:endParaRPr/>
          </a:p>
        </p:txBody>
      </p:sp>
      <p:sp>
        <p:nvSpPr>
          <p:cNvPr id="203" name="Google Shape;203;p11"/>
          <p:cNvSpPr txBox="1"/>
          <p:nvPr/>
        </p:nvSpPr>
        <p:spPr>
          <a:xfrm>
            <a:off x="777240" y="1783080"/>
            <a:ext cx="4400100" cy="35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r>
              <a:rPr lang="en-US" sz="1450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EXR形式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を、専用ビューアなしでブラウザから</a:t>
            </a:r>
            <a:endParaRPr b="0" i="0" sz="1450" u="none" cap="none" strike="noStrike">
              <a:solidFill>
                <a:srgbClr val="F2F3F7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直接プレビューできます。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多数のレイヤー（AOV）を含むEXR にも対応。Nuke／Arnold／Redshift／V-Ray いずれの書き出しでも読み込み可能。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露出／ガンマ／Depth の黒白点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／反転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を</a:t>
            </a:r>
            <a:endParaRPr sz="1450">
              <a:solidFill>
                <a:srgbClr val="F2F3F7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その場でスライダや数値入力で調整。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見たいレイヤーはドロップダウンで即切替。</a:t>
            </a:r>
            <a:endParaRPr b="0" i="0" sz="1450" u="none" cap="none" strike="noStrike">
              <a:solidFill>
                <a:srgbClr val="F2F3F7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そのままコメントやアノテーションを描き込めます。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書き出し直後の .exr をそのまま監督・PD に共有できるので、CG チームの手戻りが減ります。</a:t>
            </a:r>
            <a:endParaRPr/>
          </a:p>
        </p:txBody>
      </p:sp>
      <p:pic>
        <p:nvPicPr>
          <p:cNvPr descr="exr_anno_crypto.png" id="204" name="Google Shape;20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50000" y="1900000"/>
            <a:ext cx="6800000" cy="38250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5" name="Google Shape;205;p11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06 ／ EXR</a:t>
            </a:r>
            <a:endParaRPr/>
          </a:p>
        </p:txBody>
      </p:sp>
      <p:sp>
        <p:nvSpPr>
          <p:cNvPr id="212" name="Google Shape;212;p12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あらゆる AOV レイヤーを自動判定して可視化＋タイル一覧表示</a:t>
            </a:r>
            <a:endParaRPr/>
          </a:p>
        </p:txBody>
      </p:sp>
      <p:sp>
        <p:nvSpPr>
          <p:cNvPr id="213" name="Google Shape;213;p12"/>
          <p:cNvSpPr txBox="1"/>
          <p:nvPr/>
        </p:nvSpPr>
        <p:spPr>
          <a:xfrm>
            <a:off x="777240" y="1783080"/>
            <a:ext cx="4400100" cy="23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Beauty（RGB）／ Depth（黒白点・反転付き）／ Normal（XYZ）を自動判定。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Motion Vector（動きの向き）／ UV パス／ Position パスも対応。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Cryptomatte（オブジェクト／アセット分離）にも対応。プレビュー &amp; ランク両方描画。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「全レイヤー」モーダルで、含まれる全レイヤーをタイル一覧で把握。</a:t>
            </a:r>
            <a:endParaRPr/>
          </a:p>
        </p:txBody>
      </p:sp>
      <p:pic>
        <p:nvPicPr>
          <p:cNvPr descr="exr_alllayers.png" id="214" name="Google Shape;21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50000" y="1900000"/>
            <a:ext cx="6800000" cy="3825000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5" name="Google Shape;215;p12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3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56BF0"/>
                </a:solidFill>
                <a:latin typeface="Meiryo"/>
                <a:ea typeface="Meiryo"/>
                <a:cs typeface="Meiryo"/>
                <a:sym typeface="Meiryo"/>
              </a:rPr>
              <a:t>STRENGTH 07 ／ CLOUD</a:t>
            </a:r>
            <a:endParaRPr/>
          </a:p>
        </p:txBody>
      </p:sp>
      <p:sp>
        <p:nvSpPr>
          <p:cNvPr id="222" name="Google Shape;222;p13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Cloudflare R2 対応：フォルダ運用からクラウド運用へ</a:t>
            </a:r>
            <a:endParaRPr/>
          </a:p>
        </p:txBody>
      </p:sp>
      <p:sp>
        <p:nvSpPr>
          <p:cNvPr id="223" name="Google Shape;223;p13"/>
          <p:cNvSpPr txBox="1"/>
          <p:nvPr/>
        </p:nvSpPr>
        <p:spPr>
          <a:xfrm>
            <a:off x="792278" y="1321730"/>
            <a:ext cx="10607100" cy="9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プロジェクトデータをクラウドストレージ（Cloudflare R2）に保存。ホーム画面のタイル一覧から即接続。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受付係（Worker）が招待メンバーかどうかを毎回チェックし、部外者は自動的にアクセス拒否。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●  </a:t>
            </a:r>
            <a:r>
              <a:rPr b="0" i="0" lang="en-US" sz="145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ファイルサイズ制限＋アクセス履歴で安全運用。従来のフォルダ共有と併用可能。</a:t>
            </a:r>
            <a:endParaRPr/>
          </a:p>
        </p:txBody>
      </p:sp>
      <p:pic>
        <p:nvPicPr>
          <p:cNvPr descr="r2_architecture.png" id="224" name="Google Shape;22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0959" y="2400000"/>
            <a:ext cx="7569776" cy="4257999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5" name="Google Shape;225;p13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4"/>
          <p:cNvSpPr/>
          <p:nvPr/>
        </p:nvSpPr>
        <p:spPr>
          <a:xfrm>
            <a:off x="548640" y="566928"/>
            <a:ext cx="128016" cy="566928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OTHER SCREENS</a:t>
            </a:r>
            <a:endParaRPr/>
          </a:p>
        </p:txBody>
      </p:sp>
      <p:sp>
        <p:nvSpPr>
          <p:cNvPr id="232" name="Google Shape;232;p14"/>
          <p:cNvSpPr txBox="1"/>
          <p:nvPr/>
        </p:nvSpPr>
        <p:spPr>
          <a:xfrm>
            <a:off x="777240" y="786384"/>
            <a:ext cx="10607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そのほかの主要画面</a:t>
            </a:r>
            <a:endParaRPr/>
          </a:p>
        </p:txBody>
      </p:sp>
      <p:sp>
        <p:nvSpPr>
          <p:cNvPr id="233" name="Google Shape;233;p14"/>
          <p:cNvSpPr txBox="1"/>
          <p:nvPr/>
        </p:nvSpPr>
        <p:spPr>
          <a:xfrm>
            <a:off x="685800" y="173736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タイムライン（更新履歴）</a:t>
            </a:r>
            <a:endParaRPr/>
          </a:p>
        </p:txBody>
      </p:sp>
      <p:pic>
        <p:nvPicPr>
          <p:cNvPr descr="pre_timeline.png" id="234" name="Google Shape;23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450813"/>
            <a:ext cx="3611880" cy="2505013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5" name="Google Shape;235;p14"/>
          <p:cNvSpPr txBox="1"/>
          <p:nvPr/>
        </p:nvSpPr>
        <p:spPr>
          <a:xfrm>
            <a:off x="4462272" y="173736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ショット一覧</a:t>
            </a:r>
            <a:endParaRPr/>
          </a:p>
        </p:txBody>
      </p:sp>
      <p:pic>
        <p:nvPicPr>
          <p:cNvPr descr="shots.png" id="236" name="Google Shape;23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62272" y="2450813"/>
            <a:ext cx="3611880" cy="2505013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7" name="Google Shape;237;p14"/>
          <p:cNvSpPr txBox="1"/>
          <p:nvPr/>
        </p:nvSpPr>
        <p:spPr>
          <a:xfrm>
            <a:off x="8238744" y="1737360"/>
            <a:ext cx="3611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サブミット（まとめて提出）</a:t>
            </a:r>
            <a:endParaRPr/>
          </a:p>
        </p:txBody>
      </p:sp>
      <p:pic>
        <p:nvPicPr>
          <p:cNvPr descr="submit.png" id="238" name="Google Shape;238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38744" y="3010072"/>
            <a:ext cx="3611880" cy="1386495"/>
          </a:xfrm>
          <a:prstGeom prst="rect">
            <a:avLst/>
          </a:prstGeom>
          <a:noFill/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9" name="Google Shape;239;p14"/>
          <p:cNvSpPr txBox="1"/>
          <p:nvPr/>
        </p:nvSpPr>
        <p:spPr>
          <a:xfrm>
            <a:off x="685800" y="5440680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更新はタイムラインに集まり、ショット一覧で最新版を見渡せます。提出は複数カットをまとめてサブミットへ。</a:t>
            </a:r>
            <a:endParaRPr/>
          </a:p>
        </p:txBody>
      </p:sp>
      <p:sp>
        <p:nvSpPr>
          <p:cNvPr id="240" name="Google Shape;240;p14"/>
          <p:cNvSpPr txBox="1"/>
          <p:nvPr/>
        </p:nvSpPr>
        <p:spPr>
          <a:xfrm>
            <a:off x="10881360" y="645566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LayCAT  /  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D0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5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5"/>
          <p:cNvSpPr txBox="1"/>
          <p:nvPr/>
        </p:nvSpPr>
        <p:spPr>
          <a:xfrm>
            <a:off x="914400" y="822960"/>
            <a:ext cx="10058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まとめ：導入のメリット</a:t>
            </a:r>
            <a:endParaRPr/>
          </a:p>
        </p:txBody>
      </p:sp>
      <p:sp>
        <p:nvSpPr>
          <p:cNvPr id="248" name="Google Shape;248;p15"/>
          <p:cNvSpPr/>
          <p:nvPr/>
        </p:nvSpPr>
        <p:spPr>
          <a:xfrm>
            <a:off x="914400" y="192024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/>
          <p:nvPr/>
        </p:nvSpPr>
        <p:spPr>
          <a:xfrm>
            <a:off x="914400" y="1920240"/>
            <a:ext cx="91440" cy="192024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1234440" y="217627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そのまま指示できる</a:t>
            </a:r>
            <a:endParaRPr/>
          </a:p>
        </p:txBody>
      </p:sp>
      <p:sp>
        <p:nvSpPr>
          <p:cNvPr id="251" name="Google Shape;251;p15"/>
          <p:cNvSpPr txBox="1"/>
          <p:nvPr/>
        </p:nvSpPr>
        <p:spPr>
          <a:xfrm>
            <a:off x="1234440" y="2697480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動画に直接描き込み、レイヤーと顔の向きガイドで、直しが言葉なしで伝わります。</a:t>
            </a:r>
            <a:endParaRPr/>
          </a:p>
        </p:txBody>
      </p:sp>
      <p:sp>
        <p:nvSpPr>
          <p:cNvPr id="252" name="Google Shape;252;p15"/>
          <p:cNvSpPr/>
          <p:nvPr/>
        </p:nvSpPr>
        <p:spPr>
          <a:xfrm>
            <a:off x="6400800" y="192024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5"/>
          <p:cNvSpPr/>
          <p:nvPr/>
        </p:nvSpPr>
        <p:spPr>
          <a:xfrm>
            <a:off x="6400800" y="1920240"/>
            <a:ext cx="91440" cy="1920240"/>
          </a:xfrm>
          <a:prstGeom prst="rect">
            <a:avLst/>
          </a:prstGeom>
          <a:solidFill>
            <a:srgbClr val="5AFF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6720840" y="217627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進捗が見える</a:t>
            </a:r>
            <a:endParaRPr/>
          </a:p>
        </p:txBody>
      </p:sp>
      <p:sp>
        <p:nvSpPr>
          <p:cNvPr id="255" name="Google Shape;255;p15"/>
          <p:cNvSpPr txBox="1"/>
          <p:nvPr/>
        </p:nvSpPr>
        <p:spPr>
          <a:xfrm>
            <a:off x="6720840" y="2697480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グラフの同時表示と、担当者ごとのチェック待ちで、見落としを防げます。</a:t>
            </a:r>
            <a:endParaRPr/>
          </a:p>
        </p:txBody>
      </p:sp>
      <p:sp>
        <p:nvSpPr>
          <p:cNvPr id="256" name="Google Shape;256;p15"/>
          <p:cNvSpPr/>
          <p:nvPr/>
        </p:nvSpPr>
        <p:spPr>
          <a:xfrm>
            <a:off x="914400" y="416052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914400" y="4160520"/>
            <a:ext cx="91440" cy="1920240"/>
          </a:xfrm>
          <a:prstGeom prst="rect">
            <a:avLst/>
          </a:prstGeom>
          <a:solidFill>
            <a:srgbClr val="FFB15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5"/>
          <p:cNvSpPr txBox="1"/>
          <p:nvPr/>
        </p:nvSpPr>
        <p:spPr>
          <a:xfrm>
            <a:off x="1234440" y="441655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チームで回る</a:t>
            </a:r>
            <a:endParaRPr/>
          </a:p>
        </p:txBody>
      </p:sp>
      <p:sp>
        <p:nvSpPr>
          <p:cNvPr id="259" name="Google Shape;259;p15"/>
          <p:cNvSpPr txBox="1"/>
          <p:nvPr/>
        </p:nvSpPr>
        <p:spPr>
          <a:xfrm>
            <a:off x="1234440" y="4937759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フォルダ共有で1つのデータを共同運用。REELやサブミットでまとめて確認・提出。</a:t>
            </a:r>
            <a:endParaRPr/>
          </a:p>
        </p:txBody>
      </p:sp>
      <p:sp>
        <p:nvSpPr>
          <p:cNvPr id="260" name="Google Shape;260;p15"/>
          <p:cNvSpPr/>
          <p:nvPr/>
        </p:nvSpPr>
        <p:spPr>
          <a:xfrm>
            <a:off x="6400800" y="4160520"/>
            <a:ext cx="4892040" cy="1920240"/>
          </a:xfrm>
          <a:prstGeom prst="roundRect">
            <a:avLst>
              <a:gd fmla="val 16667" name="adj"/>
            </a:avLst>
          </a:prstGeom>
          <a:solidFill>
            <a:srgbClr val="16171C"/>
          </a:solidFill>
          <a:ln cap="flat" cmpd="sng" w="12700">
            <a:solidFill>
              <a:srgbClr val="2A2C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5"/>
          <p:cNvSpPr/>
          <p:nvPr/>
        </p:nvSpPr>
        <p:spPr>
          <a:xfrm>
            <a:off x="6400800" y="4160520"/>
            <a:ext cx="91440" cy="192024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5"/>
          <p:cNvSpPr txBox="1"/>
          <p:nvPr/>
        </p:nvSpPr>
        <p:spPr>
          <a:xfrm>
            <a:off x="6720840" y="441655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導入がかんたん</a:t>
            </a:r>
            <a:endParaRPr/>
          </a:p>
        </p:txBody>
      </p:sp>
      <p:sp>
        <p:nvSpPr>
          <p:cNvPr id="263" name="Google Shape;263;p15"/>
          <p:cNvSpPr txBox="1"/>
          <p:nvPr/>
        </p:nvSpPr>
        <p:spPr>
          <a:xfrm>
            <a:off x="6720840" y="4937759"/>
            <a:ext cx="4343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ブラウザだけで動作・インストール不要。単一HTMLで完結し、パスワード保護にも対応。</a:t>
            </a:r>
            <a:endParaRPr/>
          </a:p>
        </p:txBody>
      </p:sp>
      <p:sp>
        <p:nvSpPr>
          <p:cNvPr id="264" name="Google Shape;264;p15"/>
          <p:cNvSpPr txBox="1"/>
          <p:nvPr/>
        </p:nvSpPr>
        <p:spPr>
          <a:xfrm>
            <a:off x="914400" y="63550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公開URL：https://ogshaw03.github.io/laycat/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6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A9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A56B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aycat_icon_login.png" id="272" name="Google Shape;27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18407" y="1325880"/>
            <a:ext cx="4754880" cy="2668307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6"/>
          <p:cNvSpPr txBox="1"/>
          <p:nvPr/>
        </p:nvSpPr>
        <p:spPr>
          <a:xfrm>
            <a:off x="914400" y="3900000"/>
            <a:ext cx="10360152" cy="19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2F3F7"/>
                </a:solidFill>
                <a:latin typeface="Meiryo"/>
                <a:ea typeface="Meiryo"/>
                <a:cs typeface="Meiryo"/>
                <a:sym typeface="Meiryo"/>
              </a:rPr>
              <a:t>「もう少し右」を、絵で伝える。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7C7CF"/>
                </a:solidFill>
                <a:latin typeface="Meiryo"/>
                <a:ea typeface="Meiryo"/>
                <a:cs typeface="Meiryo"/>
                <a:sym typeface="Meiryo"/>
              </a:rPr>
              <a:t>動画レビュー・EXR プレビュー・進捗管理・クラウド共有——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現場の"面倒"を、ブラウザ 1 つに。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A9AAA"/>
                </a:solidFill>
                <a:latin typeface="Meiryo"/>
                <a:ea typeface="Meiryo"/>
                <a:cs typeface="Meiryo"/>
                <a:sym typeface="Meiryo"/>
              </a:rPr>
              <a:t>今日から、あなたの現場で。ありがとうございました。</a:t>
            </a:r>
            <a:endParaRPr/>
          </a:p>
        </p:txBody>
      </p:sp>
      <p:sp>
        <p:nvSpPr>
          <p:cNvPr id="274" name="Google Shape;274;p16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9BFF"/>
                </a:solidFill>
                <a:latin typeface="Meiryo"/>
                <a:ea typeface="Meiryo"/>
                <a:cs typeface="Meiryo"/>
                <a:sym typeface="Meiryo"/>
              </a:rPr>
              <a:t>https://ogshaw03.github.io/laycat/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