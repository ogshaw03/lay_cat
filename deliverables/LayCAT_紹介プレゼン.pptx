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gRuoIKIT4Jrgd48/+EJ0xvmhwP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3" name="Google Shape;24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A9B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256032" y="0"/>
            <a:ext cx="91440" cy="6858000"/>
          </a:xfrm>
          <a:prstGeom prst="rect">
            <a:avLst/>
          </a:prstGeom>
          <a:solidFill>
            <a:srgbClr val="A56B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005840" y="2148840"/>
            <a:ext cx="10058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1" i="0" lang="en-US" sz="640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LayCAT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051560" y="32461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9A9AAA"/>
                </a:solidFill>
                <a:latin typeface="Meiryo"/>
                <a:ea typeface="Meiryo"/>
                <a:cs typeface="Meiryo"/>
                <a:sym typeface="Meiryo"/>
              </a:rPr>
              <a:t>映像制作のための </a:t>
            </a:r>
            <a:r>
              <a:rPr b="1" i="0" lang="en-US" sz="220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レビュー ＆ 進行管理ツール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051560" y="4114800"/>
            <a:ext cx="10241400" cy="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A9AAA"/>
                </a:solidFill>
                <a:latin typeface="Meiryo"/>
                <a:ea typeface="Meiryo"/>
                <a:cs typeface="Meiryo"/>
                <a:sym typeface="Meiryo"/>
              </a:rPr>
              <a:t>動画への描き込み、進捗の見える化、チェックの割り振り、</a:t>
            </a:r>
            <a:r>
              <a:rPr lang="en-US" sz="1500">
                <a:solidFill>
                  <a:srgbClr val="9A9AAA"/>
                </a:solidFill>
                <a:latin typeface="Meiryo"/>
                <a:ea typeface="Meiryo"/>
                <a:cs typeface="Meiryo"/>
                <a:sym typeface="Meiryo"/>
              </a:rPr>
              <a:t>EXRプレビュー</a:t>
            </a:r>
            <a:r>
              <a:rPr b="0" i="0" lang="en-US" sz="1500" u="none" cap="none" strike="noStrike">
                <a:solidFill>
                  <a:srgbClr val="9A9AAA"/>
                </a:solidFill>
                <a:latin typeface="Meiryo"/>
                <a:ea typeface="Meiryo"/>
                <a:cs typeface="Meiryo"/>
                <a:sym typeface="Meiryo"/>
              </a:rPr>
              <a:t>まで。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A9AAA"/>
                </a:solidFill>
                <a:latin typeface="Meiryo"/>
                <a:ea typeface="Meiryo"/>
                <a:cs typeface="Meiryo"/>
                <a:sym typeface="Meiryo"/>
              </a:rPr>
              <a:t>制作のやり取りを、これ1つで。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051560" y="59436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A9AAA"/>
                </a:solidFill>
                <a:latin typeface="Meiryo"/>
                <a:ea typeface="Meiryo"/>
                <a:cs typeface="Meiryo"/>
                <a:sym typeface="Meiryo"/>
              </a:rPr>
              <a:t>ブラウザだけで動作／インストール不要　—　単一HTML・チーム共有対応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FF8A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8A7A"/>
                </a:solidFill>
                <a:latin typeface="Meiryo"/>
                <a:ea typeface="Meiryo"/>
                <a:cs typeface="Meiryo"/>
                <a:sym typeface="Meiryo"/>
              </a:rPr>
              <a:t>PROBLEM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こんな悩み、ありませんか？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914400" y="1828800"/>
            <a:ext cx="4892040" cy="1600200"/>
          </a:xfrm>
          <a:prstGeom prst="roundRect">
            <a:avLst>
              <a:gd fmla="val 16667" name="adj"/>
            </a:avLst>
          </a:prstGeom>
          <a:solidFill>
            <a:srgbClr val="16171C"/>
          </a:solidFill>
          <a:ln cap="flat" cmpd="sng" w="12700">
            <a:solidFill>
              <a:srgbClr val="2A2C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914400" y="1828800"/>
            <a:ext cx="91440" cy="1600200"/>
          </a:xfrm>
          <a:prstGeom prst="rect">
            <a:avLst/>
          </a:prstGeom>
          <a:solidFill>
            <a:srgbClr val="FF8A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1280160" y="2066543"/>
            <a:ext cx="425195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8A7A"/>
                </a:solidFill>
                <a:latin typeface="Meiryo"/>
                <a:ea typeface="Meiryo"/>
                <a:cs typeface="Meiryo"/>
                <a:sym typeface="Meiryo"/>
              </a:rPr>
              <a:t>「 </a:t>
            </a:r>
            <a:r>
              <a:rPr b="1" i="0" lang="en-US" sz="160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「もう少し右」が伝わらない</a:t>
            </a:r>
            <a:r>
              <a:rPr b="1" i="0" lang="en-US" sz="1600" u="none" cap="none" strike="noStrike">
                <a:solidFill>
                  <a:srgbClr val="FF8A7A"/>
                </a:solidFill>
                <a:latin typeface="Meiryo"/>
                <a:ea typeface="Meiryo"/>
                <a:cs typeface="Meiryo"/>
                <a:sym typeface="Meiryo"/>
              </a:rPr>
              <a:t> 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1280160" y="2587752"/>
            <a:ext cx="425195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9A9AAA"/>
                </a:solidFill>
                <a:latin typeface="Meiryo"/>
                <a:ea typeface="Meiryo"/>
                <a:cs typeface="Meiryo"/>
                <a:sym typeface="Meiryo"/>
              </a:rPr>
              <a:t>口頭やメールの往復ばかりで、修正の意図がなかなか伝わらない。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6400800" y="1828800"/>
            <a:ext cx="4892040" cy="1600200"/>
          </a:xfrm>
          <a:prstGeom prst="roundRect">
            <a:avLst>
              <a:gd fmla="val 16667" name="adj"/>
            </a:avLst>
          </a:prstGeom>
          <a:solidFill>
            <a:srgbClr val="16171C"/>
          </a:solidFill>
          <a:ln cap="flat" cmpd="sng" w="12700">
            <a:solidFill>
              <a:srgbClr val="2A2C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6400800" y="1828800"/>
            <a:ext cx="91440" cy="1600200"/>
          </a:xfrm>
          <a:prstGeom prst="rect">
            <a:avLst/>
          </a:prstGeom>
          <a:solidFill>
            <a:srgbClr val="FF8A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6766560" y="2066543"/>
            <a:ext cx="425195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8A7A"/>
                </a:solidFill>
                <a:latin typeface="Meiryo"/>
                <a:ea typeface="Meiryo"/>
                <a:cs typeface="Meiryo"/>
                <a:sym typeface="Meiryo"/>
              </a:rPr>
              <a:t>「 </a:t>
            </a:r>
            <a:r>
              <a:rPr b="1" i="0" lang="en-US" sz="160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どのカットが、どこまで？</a:t>
            </a:r>
            <a:r>
              <a:rPr b="1" i="0" lang="en-US" sz="1600" u="none" cap="none" strike="noStrike">
                <a:solidFill>
                  <a:srgbClr val="FF8A7A"/>
                </a:solidFill>
                <a:latin typeface="Meiryo"/>
                <a:ea typeface="Meiryo"/>
                <a:cs typeface="Meiryo"/>
                <a:sym typeface="Meiryo"/>
              </a:rPr>
              <a:t> 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6766560" y="2587752"/>
            <a:ext cx="425195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9A9AAA"/>
                </a:solidFill>
                <a:latin typeface="Meiryo"/>
                <a:ea typeface="Meiryo"/>
                <a:cs typeface="Meiryo"/>
                <a:sym typeface="Meiryo"/>
              </a:rPr>
              <a:t>進捗が見えず、Excel 管理や状況確認に手間がかかる。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914400" y="3703320"/>
            <a:ext cx="4892040" cy="1600200"/>
          </a:xfrm>
          <a:prstGeom prst="roundRect">
            <a:avLst>
              <a:gd fmla="val 16667" name="adj"/>
            </a:avLst>
          </a:prstGeom>
          <a:solidFill>
            <a:srgbClr val="16171C"/>
          </a:solidFill>
          <a:ln cap="flat" cmpd="sng" w="12700">
            <a:solidFill>
              <a:srgbClr val="2A2C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914400" y="3703320"/>
            <a:ext cx="91440" cy="1600200"/>
          </a:xfrm>
          <a:prstGeom prst="rect">
            <a:avLst/>
          </a:prstGeom>
          <a:solidFill>
            <a:srgbClr val="FF8A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1280160" y="3941063"/>
            <a:ext cx="425195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8A7A"/>
                </a:solidFill>
                <a:latin typeface="Meiryo"/>
                <a:ea typeface="Meiryo"/>
                <a:cs typeface="Meiryo"/>
                <a:sym typeface="Meiryo"/>
              </a:rPr>
              <a:t>「 </a:t>
            </a:r>
            <a:r>
              <a:rPr b="1" i="0" lang="en-US" sz="160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誰が確認する番？</a:t>
            </a:r>
            <a:r>
              <a:rPr b="1" i="0" lang="en-US" sz="1600" u="none" cap="none" strike="noStrike">
                <a:solidFill>
                  <a:srgbClr val="FF8A7A"/>
                </a:solidFill>
                <a:latin typeface="Meiryo"/>
                <a:ea typeface="Meiryo"/>
                <a:cs typeface="Meiryo"/>
                <a:sym typeface="Meiryo"/>
              </a:rPr>
              <a:t> 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1280160" y="4462272"/>
            <a:ext cx="425195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9A9AAA"/>
                </a:solidFill>
                <a:latin typeface="Meiryo"/>
                <a:ea typeface="Meiryo"/>
                <a:cs typeface="Meiryo"/>
                <a:sym typeface="Meiryo"/>
              </a:rPr>
              <a:t>チェックの抜け漏れや、二度手間が起きやすい。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6400800" y="3703320"/>
            <a:ext cx="4892040" cy="1600200"/>
          </a:xfrm>
          <a:prstGeom prst="roundRect">
            <a:avLst>
              <a:gd fmla="val 16667" name="adj"/>
            </a:avLst>
          </a:prstGeom>
          <a:solidFill>
            <a:srgbClr val="16171C"/>
          </a:solidFill>
          <a:ln cap="flat" cmpd="sng" w="12700">
            <a:solidFill>
              <a:srgbClr val="2A2C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6400800" y="3703320"/>
            <a:ext cx="91440" cy="1600200"/>
          </a:xfrm>
          <a:prstGeom prst="rect">
            <a:avLst/>
          </a:prstGeom>
          <a:solidFill>
            <a:srgbClr val="FF8A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6766560" y="3941063"/>
            <a:ext cx="425195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8A7A"/>
                </a:solidFill>
                <a:latin typeface="Meiryo"/>
                <a:ea typeface="Meiryo"/>
                <a:cs typeface="Meiryo"/>
                <a:sym typeface="Meiryo"/>
              </a:rPr>
              <a:t>「 </a:t>
            </a:r>
            <a:r>
              <a:rPr b="1" i="0" lang="en-US" sz="160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最新版はどれ？</a:t>
            </a:r>
            <a:r>
              <a:rPr b="1" i="0" lang="en-US" sz="1600" u="none" cap="none" strike="noStrike">
                <a:solidFill>
                  <a:srgbClr val="FF8A7A"/>
                </a:solidFill>
                <a:latin typeface="Meiryo"/>
                <a:ea typeface="Meiryo"/>
                <a:cs typeface="Meiryo"/>
                <a:sym typeface="Meiryo"/>
              </a:rPr>
              <a:t> 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6766560" y="4462272"/>
            <a:ext cx="425195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9A9AAA"/>
                </a:solidFill>
                <a:latin typeface="Meiryo"/>
                <a:ea typeface="Meiryo"/>
                <a:cs typeface="Meiryo"/>
                <a:sym typeface="Meiryo"/>
              </a:rPr>
              <a:t>動画やコメントが散らばり、探すのに時間がかかる。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914400" y="580644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A9AAA"/>
                </a:solidFill>
                <a:latin typeface="Meiryo"/>
                <a:ea typeface="Meiryo"/>
                <a:cs typeface="Meiryo"/>
                <a:sym typeface="Meiryo"/>
              </a:rPr>
              <a:t>— その悩み、</a:t>
            </a:r>
            <a:r>
              <a:rPr b="1" i="0" lang="en-US" sz="150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LayCAT</a:t>
            </a:r>
            <a:r>
              <a:rPr b="0" i="0" lang="en-US" sz="1500" u="none" cap="none" strike="noStrike">
                <a:solidFill>
                  <a:srgbClr val="9A9AAA"/>
                </a:solidFill>
                <a:latin typeface="Meiryo"/>
                <a:ea typeface="Meiryo"/>
                <a:cs typeface="Meiryo"/>
                <a:sym typeface="Meiryo"/>
              </a:rPr>
              <a:t> がまとめて解決します。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A9AAA"/>
                </a:solidFill>
                <a:latin typeface="Meiryo"/>
                <a:ea typeface="Meiryo"/>
                <a:cs typeface="Meiryo"/>
                <a:sym typeface="Meiryo"/>
              </a:rPr>
              <a:t>LayCAT  /  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5A9B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LayCAT とは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777240" y="1737360"/>
            <a:ext cx="429768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0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動画や画像を共有して、OK・リテイク・NG で判定できます。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0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動画のコマに直接描き込むアノテーションで、修正指示をそのまま伝えられます。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0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レイヤー・顔の向きガイドで、言葉にしづらい直しも的確に。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0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カットごとの進み具合が、ひと目でわかります。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0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作品ごとにフォルダへ保存してチームで共有。ブラウザだけで動作・インストール不要。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ome.png" id="124" name="Google Shape;12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2080" y="2675062"/>
            <a:ext cx="6583680" cy="2605155"/>
          </a:xfrm>
          <a:prstGeom prst="rect">
            <a:avLst/>
          </a:prstGeom>
          <a:noFill/>
          <a:ln cap="flat" cmpd="sng" w="12700">
            <a:solidFill>
              <a:srgbClr val="2A2C3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5" name="Google Shape;125;p3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A9AAA"/>
                </a:solidFill>
                <a:latin typeface="Meiryo"/>
                <a:ea typeface="Meiryo"/>
                <a:cs typeface="Meiryo"/>
                <a:sym typeface="Meiryo"/>
              </a:rPr>
              <a:t>LayCAT  /  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5AFF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5AFFA0"/>
                </a:solidFill>
                <a:latin typeface="Meiryo"/>
                <a:ea typeface="Meiryo"/>
                <a:cs typeface="Meiryo"/>
                <a:sym typeface="Meiryo"/>
              </a:rPr>
              <a:t>TASK PAGE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タスクページ：カットごとの作業画面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777240" y="1783080"/>
            <a:ext cx="356616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1つのカットの工程を開く、作業の中心画面です。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「＋動画」でアップ。上げるたびに版（v1・v2…）が残ります。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動画ごとに、コメントや OK・リテイクの判定をやり取り。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ステータスや担当（作業・チェック）もここで設定します。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_task.png" id="134" name="Google Shape;1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7262" y="1600200"/>
            <a:ext cx="6921795" cy="4800600"/>
          </a:xfrm>
          <a:prstGeom prst="rect">
            <a:avLst/>
          </a:prstGeom>
          <a:noFill/>
          <a:ln cap="flat" cmpd="sng" w="12700">
            <a:solidFill>
              <a:srgbClr val="2A2C3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5" name="Google Shape;135;p4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A9AAA"/>
                </a:solidFill>
                <a:latin typeface="Meiryo"/>
                <a:ea typeface="Meiryo"/>
                <a:cs typeface="Meiryo"/>
                <a:sym typeface="Meiryo"/>
              </a:rPr>
              <a:t>LayCAT  /  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5A9B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STRENGTH 01 ／ ANNOTATION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アノテーション：レイヤー機能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777240" y="1783080"/>
            <a:ext cx="356616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動画のコマに、直接 絵で指示を描けます。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指示はレイヤーで分けられます（例：演出／作画／修正）。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レイヤーごとに、表示・非表示や削除ができます。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ブラシ・消しゴム・トレーシングペーパーなどを用意。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_review_anno.png" id="144" name="Google Shape;14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7262" y="1600200"/>
            <a:ext cx="6921795" cy="4800600"/>
          </a:xfrm>
          <a:prstGeom prst="rect">
            <a:avLst/>
          </a:prstGeom>
          <a:noFill/>
          <a:ln cap="flat" cmpd="sng" w="12700">
            <a:solidFill>
              <a:srgbClr val="2A2C3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5" name="Google Shape;145;p5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A9AAA"/>
                </a:solidFill>
                <a:latin typeface="Meiryo"/>
                <a:ea typeface="Meiryo"/>
                <a:cs typeface="Meiryo"/>
                <a:sym typeface="Meiryo"/>
              </a:rPr>
              <a:t>LayCAT  /  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A56B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A56BF0"/>
                </a:solidFill>
                <a:latin typeface="Meiryo"/>
                <a:ea typeface="Meiryo"/>
                <a:cs typeface="Meiryo"/>
                <a:sym typeface="Meiryo"/>
              </a:rPr>
              <a:t>STRENGTH 02 ／ ANNOTATION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動画への埋め込み ＆ 顔の向きガイド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anvas.png" id="153" name="Google Shape;15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806281"/>
            <a:ext cx="6766560" cy="4342717"/>
          </a:xfrm>
          <a:prstGeom prst="rect">
            <a:avLst/>
          </a:prstGeom>
          <a:noFill/>
          <a:ln cap="flat" cmpd="sng" w="12700">
            <a:solidFill>
              <a:srgbClr val="2A2C3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4" name="Google Shape;154;p6"/>
          <p:cNvSpPr txBox="1"/>
          <p:nvPr/>
        </p:nvSpPr>
        <p:spPr>
          <a:xfrm>
            <a:off x="7772400" y="1828800"/>
            <a:ext cx="393192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描いた指示はそのコマに保存され、再生すると自動で出ます。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コメント欄にも、縮小画像で残ります。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「顔の向きガイド」で、顔の向きを立体的に示せます。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ドラッグで、上下・左右・傾きを指定できます。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A9AAA"/>
                </a:solidFill>
                <a:latin typeface="Meiryo"/>
                <a:ea typeface="Meiryo"/>
                <a:cs typeface="Meiryo"/>
                <a:sym typeface="Meiryo"/>
              </a:rPr>
              <a:t>LayCAT  /  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5A9B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STRENGTH 03 ／ PROGRESS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進捗管理：複数グラフの同時表示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"/>
          <p:cNvSpPr txBox="1"/>
          <p:nvPr/>
        </p:nvSpPr>
        <p:spPr>
          <a:xfrm>
            <a:off x="777240" y="1783080"/>
            <a:ext cx="356616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エピソードごとの円グラフを、横に並べて表示します。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「工程」と「ステータス」の2種類を切り替えられます。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担当者でしぼり込めます。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作品全体の進み具合が、ひと目でわかります。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og.png" id="164" name="Google Shape;16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1903" y="1600200"/>
            <a:ext cx="5372512" cy="4800600"/>
          </a:xfrm>
          <a:prstGeom prst="rect">
            <a:avLst/>
          </a:prstGeom>
          <a:noFill/>
          <a:ln cap="flat" cmpd="sng" w="12700">
            <a:solidFill>
              <a:srgbClr val="2A2C3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5" name="Google Shape;165;p7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A9AAA"/>
                </a:solidFill>
                <a:latin typeface="Meiryo"/>
                <a:ea typeface="Meiryo"/>
                <a:cs typeface="Meiryo"/>
                <a:sym typeface="Meiryo"/>
              </a:rPr>
              <a:t>LayCAT  /  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5A9B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STRENGTH 03 ／ PROGRESS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ステータス別でも同時に比較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 txBox="1"/>
          <p:nvPr/>
        </p:nvSpPr>
        <p:spPr>
          <a:xfrm>
            <a:off x="777240" y="1783080"/>
            <a:ext cx="356616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同じ画面で「ステータスグラフ」に切り替えられます。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チェック待ち・OK・リテイク・NG の割合を比較できます。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リテイクが多いエピソードなど、つまずきを見つけやすくなります。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ogst.png" id="174" name="Google Shape;17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1903" y="1600200"/>
            <a:ext cx="5372512" cy="4800600"/>
          </a:xfrm>
          <a:prstGeom prst="rect">
            <a:avLst/>
          </a:prstGeom>
          <a:noFill/>
          <a:ln cap="flat" cmpd="sng" w="12700">
            <a:solidFill>
              <a:srgbClr val="2A2C3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5" name="Google Shape;175;p8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A9AAA"/>
                </a:solidFill>
                <a:latin typeface="Meiryo"/>
                <a:ea typeface="Meiryo"/>
                <a:cs typeface="Meiryo"/>
                <a:sym typeface="Meiryo"/>
              </a:rPr>
              <a:t>LayCAT  /  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5A9B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STRENGTH 04 ／ REVIEW QUEUE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9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チェック待ち：チェック担当者一覧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9"/>
          <p:cNvSpPr txBox="1"/>
          <p:nvPr/>
        </p:nvSpPr>
        <p:spPr>
          <a:xfrm>
            <a:off x="777240" y="1783080"/>
            <a:ext cx="356616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チェック担当者ごとに、タブで分かれます。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自分が見る番のカットだけを表示できます。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残り件数がバッジでわかり、見落としを防げます。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一覧のまま、ステータスを変えられます。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eck.png" id="184" name="Google Shape;18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7262" y="1600200"/>
            <a:ext cx="6921795" cy="4800600"/>
          </a:xfrm>
          <a:prstGeom prst="rect">
            <a:avLst/>
          </a:prstGeom>
          <a:noFill/>
          <a:ln cap="flat" cmpd="sng" w="12700">
            <a:solidFill>
              <a:srgbClr val="2A2C3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5" name="Google Shape;185;p9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A9AAA"/>
                </a:solidFill>
                <a:latin typeface="Meiryo"/>
                <a:ea typeface="Meiryo"/>
                <a:cs typeface="Meiryo"/>
                <a:sym typeface="Meiryo"/>
              </a:rPr>
              <a:t>LayCAT  /  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A56B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A56BF0"/>
                </a:solidFill>
                <a:latin typeface="Meiryo"/>
                <a:ea typeface="Meiryo"/>
                <a:cs typeface="Meiryo"/>
                <a:sym typeface="Meiryo"/>
              </a:rPr>
              <a:t>STRENGTH 05 ／ REEL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0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REEL：カットをつなげて連続再生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0"/>
          <p:cNvSpPr txBox="1"/>
          <p:nvPr/>
        </p:nvSpPr>
        <p:spPr>
          <a:xfrm>
            <a:off x="777240" y="1783080"/>
            <a:ext cx="356616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複数のカットをつなげて、連続再生できます。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並べ替えて、通しのテンポを確認できます。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REELで書いたコメント・アノテーションは、各カットのタスクページにそのまま反映されます。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つながり確認や試写に、そのまま使えます。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_reel.png" id="194" name="Google Shape;19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0029" y="1600200"/>
            <a:ext cx="7016261" cy="4800600"/>
          </a:xfrm>
          <a:prstGeom prst="rect">
            <a:avLst/>
          </a:prstGeom>
          <a:noFill/>
          <a:ln cap="flat" cmpd="sng" w="12700">
            <a:solidFill>
              <a:srgbClr val="2A2C3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5" name="Google Shape;195;p10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A9AAA"/>
                </a:solidFill>
                <a:latin typeface="Meiryo"/>
                <a:ea typeface="Meiryo"/>
                <a:cs typeface="Meiryo"/>
                <a:sym typeface="Meiryo"/>
              </a:rPr>
              <a:t>LayCAT  / 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A56B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A56BF0"/>
                </a:solidFill>
                <a:latin typeface="Meiryo"/>
                <a:ea typeface="Meiryo"/>
                <a:cs typeface="Meiryo"/>
                <a:sym typeface="Meiryo"/>
              </a:rPr>
              <a:t>STRENGTH 06 ／ EXR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1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EXR：Nuke なしで多層 EXR をブラウザで直接プレビュー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1"/>
          <p:cNvSpPr txBox="1"/>
          <p:nvPr/>
        </p:nvSpPr>
        <p:spPr>
          <a:xfrm>
            <a:off x="777240" y="1783080"/>
            <a:ext cx="4400100" cy="38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.EXR形式を、専用ビューアなしでブラウザから</a:t>
            </a:r>
            <a:endParaRPr b="0" i="0" sz="1450" u="none" cap="none" strike="noStrike">
              <a:solidFill>
                <a:srgbClr val="F2F3F7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直接プレビューできます。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lang="en-US" sz="1450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多数のレイヤー（</a:t>
            </a:r>
            <a:r>
              <a:rPr lang="en-US" sz="1450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AOV</a:t>
            </a:r>
            <a:r>
              <a:rPr lang="en-US" sz="1450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）</a:t>
            </a:r>
            <a:r>
              <a:rPr lang="en-US" sz="1450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を含む多層 EXR に対応。Nuke／Arnold／Redshift／V-Ray など</a:t>
            </a:r>
            <a:endParaRPr sz="1450">
              <a:solidFill>
                <a:srgbClr val="F2F3F7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主要レンダラーの出力を読み込み可能。</a:t>
            </a:r>
            <a:endParaRPr sz="1250">
              <a:solidFill>
                <a:srgbClr val="F2F3F7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露出／ガンマ／Depth の黒白点／反転を</a:t>
            </a:r>
            <a:endParaRPr b="0" i="0" sz="1450" u="none" cap="none" strike="noStrike">
              <a:solidFill>
                <a:srgbClr val="F2F3F7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その場でスライダや数値入力で調整。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見たいレイヤーはドロップダウンで即切替。</a:t>
            </a:r>
            <a:endParaRPr b="0" i="0" sz="1450" u="none" cap="none" strike="noStrike">
              <a:solidFill>
                <a:srgbClr val="F2F3F7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そのままコメントやアノテーションを描き込めます。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書き出し直後の .exr をそのまま監督・PD に共有できるので、CG チームの手戻りが減ります。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xr_anno_crypto.png" id="204" name="Google Shape;20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0000" y="1900000"/>
            <a:ext cx="6800000" cy="3825000"/>
          </a:xfrm>
          <a:prstGeom prst="rect">
            <a:avLst/>
          </a:prstGeom>
          <a:noFill/>
          <a:ln cap="flat" cmpd="sng" w="12700">
            <a:solidFill>
              <a:srgbClr val="2A2C3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5" name="Google Shape;205;p11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A9AAA"/>
                </a:solidFill>
                <a:latin typeface="Meiryo"/>
                <a:ea typeface="Meiryo"/>
                <a:cs typeface="Meiryo"/>
                <a:sym typeface="Meiryo"/>
              </a:rPr>
              <a:t>LayCAT  / 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A56B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A56BF0"/>
                </a:solidFill>
                <a:latin typeface="Meiryo"/>
                <a:ea typeface="Meiryo"/>
                <a:cs typeface="Meiryo"/>
                <a:sym typeface="Meiryo"/>
              </a:rPr>
              <a:t>STRENGTH 06 ／ EXR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2"/>
          <p:cNvSpPr txBox="1"/>
          <p:nvPr/>
        </p:nvSpPr>
        <p:spPr>
          <a:xfrm>
            <a:off x="777240" y="786384"/>
            <a:ext cx="10607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あらゆる AOV レイヤーを可視化＋タイル一覧表示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2"/>
          <p:cNvSpPr txBox="1"/>
          <p:nvPr/>
        </p:nvSpPr>
        <p:spPr>
          <a:xfrm>
            <a:off x="777240" y="1783080"/>
            <a:ext cx="4400100" cy="22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Beauty（RGB）</a:t>
            </a:r>
            <a:r>
              <a:rPr lang="en-US" sz="1450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/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 Depth（黒白点・反転付き）／ Normal（XYZ）を自動判定。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</a:t>
            </a: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Motion Vector </a:t>
            </a:r>
            <a:r>
              <a:rPr lang="en-US" sz="1450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/</a:t>
            </a:r>
            <a:r>
              <a:rPr lang="en-US" sz="1450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UVパス </a:t>
            </a:r>
            <a:r>
              <a:rPr lang="en-US" sz="1450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/</a:t>
            </a:r>
            <a:r>
              <a:rPr lang="en-US" sz="1450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Positionパスも対応。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Cryptomatte（オブジェクト</a:t>
            </a:r>
            <a:r>
              <a:rPr lang="en-US" sz="1450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/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アセット分離）</a:t>
            </a:r>
            <a:endParaRPr b="0" i="0" sz="1450" u="none" cap="none" strike="noStrike">
              <a:solidFill>
                <a:srgbClr val="F2F3F7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にも対応。プレビュー &amp; ランク両方描画。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「全レイヤー」モーダルで、含まれる全レイヤーをタイル一覧で把握。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xr_alllayers.png" id="214" name="Google Shape;21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0000" y="1900000"/>
            <a:ext cx="6800000" cy="3825000"/>
          </a:xfrm>
          <a:prstGeom prst="rect">
            <a:avLst/>
          </a:prstGeom>
          <a:noFill/>
          <a:ln cap="flat" cmpd="sng" w="12700">
            <a:solidFill>
              <a:srgbClr val="2A2C3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5" name="Google Shape;215;p12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A9AAA"/>
                </a:solidFill>
                <a:latin typeface="Meiryo"/>
                <a:ea typeface="Meiryo"/>
                <a:cs typeface="Meiryo"/>
                <a:sym typeface="Meiryo"/>
              </a:rPr>
              <a:t>LayCAT  /  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A56B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3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A56BF0"/>
                </a:solidFill>
                <a:latin typeface="Meiryo"/>
                <a:ea typeface="Meiryo"/>
                <a:cs typeface="Meiryo"/>
                <a:sym typeface="Meiryo"/>
              </a:rPr>
              <a:t>STRENGTH 07 ／ CLOUD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3"/>
          <p:cNvSpPr txBox="1"/>
          <p:nvPr/>
        </p:nvSpPr>
        <p:spPr>
          <a:xfrm>
            <a:off x="777240" y="786384"/>
            <a:ext cx="10607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Cloudflare R2 対応：フォルダ運用</a:t>
            </a:r>
            <a:r>
              <a:rPr b="1" lang="en-US" sz="2900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も、</a:t>
            </a:r>
            <a:r>
              <a:rPr b="1" i="0" lang="en-US" sz="290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クラウド運用</a:t>
            </a:r>
            <a:r>
              <a:rPr b="1" lang="en-US" sz="2900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3"/>
          <p:cNvSpPr txBox="1"/>
          <p:nvPr/>
        </p:nvSpPr>
        <p:spPr>
          <a:xfrm>
            <a:off x="792278" y="1321730"/>
            <a:ext cx="106071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プロジェクトデータをクラウドストレージ（Cloudflare R2）に保存。ホーム画面のタイル一覧から即接続。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受付係（Worker）が招待メンバーかどうかを毎回チェックし、部外者は自動的にアクセス拒否。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●  </a:t>
            </a:r>
            <a:r>
              <a:rPr b="0" i="0" lang="en-US" sz="145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ファイルサイズ制限＋アクセス履歴で安全運用。フォルダ共有と併用可能。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2_architecture.png" id="224" name="Google Shape;22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0959" y="2400000"/>
            <a:ext cx="7569776" cy="4257999"/>
          </a:xfrm>
          <a:prstGeom prst="rect">
            <a:avLst/>
          </a:prstGeom>
          <a:noFill/>
          <a:ln cap="flat" cmpd="sng" w="12700">
            <a:solidFill>
              <a:srgbClr val="2A2C3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5" name="Google Shape;225;p13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A9AAA"/>
                </a:solidFill>
                <a:latin typeface="Meiryo"/>
                <a:ea typeface="Meiryo"/>
                <a:cs typeface="Meiryo"/>
                <a:sym typeface="Meiryo"/>
              </a:rPr>
              <a:t>LayCAT  /  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5A9B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4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OTHER SCREENS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4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そのほかの主要画面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4"/>
          <p:cNvSpPr txBox="1"/>
          <p:nvPr/>
        </p:nvSpPr>
        <p:spPr>
          <a:xfrm>
            <a:off x="685800" y="1737360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タイムライン（更新履歴）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_timeline.png" id="234" name="Google Shape;23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2450813"/>
            <a:ext cx="3611880" cy="2505013"/>
          </a:xfrm>
          <a:prstGeom prst="rect">
            <a:avLst/>
          </a:prstGeom>
          <a:noFill/>
          <a:ln cap="flat" cmpd="sng" w="12700">
            <a:solidFill>
              <a:srgbClr val="2A2C3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5" name="Google Shape;235;p14"/>
          <p:cNvSpPr txBox="1"/>
          <p:nvPr/>
        </p:nvSpPr>
        <p:spPr>
          <a:xfrm>
            <a:off x="4462272" y="1737360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ショット一覧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ots.png" id="236" name="Google Shape;23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62272" y="2450813"/>
            <a:ext cx="3611880" cy="2505013"/>
          </a:xfrm>
          <a:prstGeom prst="rect">
            <a:avLst/>
          </a:prstGeom>
          <a:noFill/>
          <a:ln cap="flat" cmpd="sng" w="12700">
            <a:solidFill>
              <a:srgbClr val="2A2C3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7" name="Google Shape;237;p14"/>
          <p:cNvSpPr txBox="1"/>
          <p:nvPr/>
        </p:nvSpPr>
        <p:spPr>
          <a:xfrm>
            <a:off x="8238744" y="1737360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サブミット（まとめて提出）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ubmit.png" id="238" name="Google Shape;23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38744" y="3010072"/>
            <a:ext cx="3611880" cy="1386495"/>
          </a:xfrm>
          <a:prstGeom prst="rect">
            <a:avLst/>
          </a:prstGeom>
          <a:noFill/>
          <a:ln cap="flat" cmpd="sng" w="12700">
            <a:solidFill>
              <a:srgbClr val="2A2C3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9" name="Google Shape;239;p14"/>
          <p:cNvSpPr txBox="1"/>
          <p:nvPr/>
        </p:nvSpPr>
        <p:spPr>
          <a:xfrm>
            <a:off x="685800" y="544068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A9AAA"/>
                </a:solidFill>
                <a:latin typeface="Meiryo"/>
                <a:ea typeface="Meiryo"/>
                <a:cs typeface="Meiryo"/>
                <a:sym typeface="Meiryo"/>
              </a:rPr>
              <a:t>更新はタイムラインに集まり、ショット一覧で最新版を見渡せます。提出は複数カットをまとめてサブミットへ。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4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A9AAA"/>
                </a:solidFill>
                <a:latin typeface="Meiryo"/>
                <a:ea typeface="Meiryo"/>
                <a:cs typeface="Meiryo"/>
                <a:sym typeface="Meiryo"/>
              </a:rPr>
              <a:t>LayCAT  /  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A9B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5"/>
          <p:cNvSpPr/>
          <p:nvPr/>
        </p:nvSpPr>
        <p:spPr>
          <a:xfrm>
            <a:off x="256032" y="0"/>
            <a:ext cx="91440" cy="6858000"/>
          </a:xfrm>
          <a:prstGeom prst="rect">
            <a:avLst/>
          </a:prstGeom>
          <a:solidFill>
            <a:srgbClr val="A56B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5"/>
          <p:cNvSpPr txBox="1"/>
          <p:nvPr/>
        </p:nvSpPr>
        <p:spPr>
          <a:xfrm>
            <a:off x="914400" y="82296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まとめ：導入のメリット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5"/>
          <p:cNvSpPr/>
          <p:nvPr/>
        </p:nvSpPr>
        <p:spPr>
          <a:xfrm>
            <a:off x="914400" y="1920240"/>
            <a:ext cx="4892040" cy="1920240"/>
          </a:xfrm>
          <a:prstGeom prst="roundRect">
            <a:avLst>
              <a:gd fmla="val 16667" name="adj"/>
            </a:avLst>
          </a:prstGeom>
          <a:solidFill>
            <a:srgbClr val="16171C"/>
          </a:solidFill>
          <a:ln cap="flat" cmpd="sng" w="12700">
            <a:solidFill>
              <a:srgbClr val="2A2C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5"/>
          <p:cNvSpPr/>
          <p:nvPr/>
        </p:nvSpPr>
        <p:spPr>
          <a:xfrm>
            <a:off x="914400" y="1920240"/>
            <a:ext cx="91440" cy="1920240"/>
          </a:xfrm>
          <a:prstGeom prst="rect">
            <a:avLst/>
          </a:prstGeom>
          <a:solidFill>
            <a:srgbClr val="5A9B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5"/>
          <p:cNvSpPr txBox="1"/>
          <p:nvPr/>
        </p:nvSpPr>
        <p:spPr>
          <a:xfrm>
            <a:off x="1234440" y="2176272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そのまま指示できる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5"/>
          <p:cNvSpPr txBox="1"/>
          <p:nvPr/>
        </p:nvSpPr>
        <p:spPr>
          <a:xfrm>
            <a:off x="1234440" y="2697480"/>
            <a:ext cx="4343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9A9AAA"/>
                </a:solidFill>
                <a:latin typeface="Meiryo"/>
                <a:ea typeface="Meiryo"/>
                <a:cs typeface="Meiryo"/>
                <a:sym typeface="Meiryo"/>
              </a:rPr>
              <a:t>動画に直接描き込み、レイヤーと顔の向きガイドで、直しが言葉なしで伝わります。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5"/>
          <p:cNvSpPr/>
          <p:nvPr/>
        </p:nvSpPr>
        <p:spPr>
          <a:xfrm>
            <a:off x="6400800" y="1920240"/>
            <a:ext cx="4892040" cy="1920240"/>
          </a:xfrm>
          <a:prstGeom prst="roundRect">
            <a:avLst>
              <a:gd fmla="val 16667" name="adj"/>
            </a:avLst>
          </a:prstGeom>
          <a:solidFill>
            <a:srgbClr val="16171C"/>
          </a:solidFill>
          <a:ln cap="flat" cmpd="sng" w="12700">
            <a:solidFill>
              <a:srgbClr val="2A2C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5"/>
          <p:cNvSpPr/>
          <p:nvPr/>
        </p:nvSpPr>
        <p:spPr>
          <a:xfrm>
            <a:off x="6400800" y="1920240"/>
            <a:ext cx="91440" cy="1920240"/>
          </a:xfrm>
          <a:prstGeom prst="rect">
            <a:avLst/>
          </a:prstGeom>
          <a:solidFill>
            <a:srgbClr val="5AFF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5"/>
          <p:cNvSpPr txBox="1"/>
          <p:nvPr/>
        </p:nvSpPr>
        <p:spPr>
          <a:xfrm>
            <a:off x="6720840" y="2176272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進捗が見える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5"/>
          <p:cNvSpPr txBox="1"/>
          <p:nvPr/>
        </p:nvSpPr>
        <p:spPr>
          <a:xfrm>
            <a:off x="6720840" y="2697480"/>
            <a:ext cx="4343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9A9AAA"/>
                </a:solidFill>
                <a:latin typeface="Meiryo"/>
                <a:ea typeface="Meiryo"/>
                <a:cs typeface="Meiryo"/>
                <a:sym typeface="Meiryo"/>
              </a:rPr>
              <a:t>グラフの同時表示と、担当者ごとのチェック待ちで、見落としを防げます。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5"/>
          <p:cNvSpPr/>
          <p:nvPr/>
        </p:nvSpPr>
        <p:spPr>
          <a:xfrm>
            <a:off x="914400" y="4160520"/>
            <a:ext cx="4892040" cy="1920240"/>
          </a:xfrm>
          <a:prstGeom prst="roundRect">
            <a:avLst>
              <a:gd fmla="val 16667" name="adj"/>
            </a:avLst>
          </a:prstGeom>
          <a:solidFill>
            <a:srgbClr val="16171C"/>
          </a:solidFill>
          <a:ln cap="flat" cmpd="sng" w="12700">
            <a:solidFill>
              <a:srgbClr val="2A2C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5"/>
          <p:cNvSpPr/>
          <p:nvPr/>
        </p:nvSpPr>
        <p:spPr>
          <a:xfrm>
            <a:off x="914400" y="4160520"/>
            <a:ext cx="91440" cy="1920240"/>
          </a:xfrm>
          <a:prstGeom prst="rect">
            <a:avLst/>
          </a:prstGeom>
          <a:solidFill>
            <a:srgbClr val="FFB1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5"/>
          <p:cNvSpPr txBox="1"/>
          <p:nvPr/>
        </p:nvSpPr>
        <p:spPr>
          <a:xfrm>
            <a:off x="1234440" y="4416552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チームで回る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5"/>
          <p:cNvSpPr txBox="1"/>
          <p:nvPr/>
        </p:nvSpPr>
        <p:spPr>
          <a:xfrm>
            <a:off x="1234440" y="4937759"/>
            <a:ext cx="4343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9A9AAA"/>
                </a:solidFill>
                <a:latin typeface="Meiryo"/>
                <a:ea typeface="Meiryo"/>
                <a:cs typeface="Meiryo"/>
                <a:sym typeface="Meiryo"/>
              </a:rPr>
              <a:t>フォルダ共有で1つのデータを共同運用。REELやサブミットでまとめて確認・提出。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5"/>
          <p:cNvSpPr/>
          <p:nvPr/>
        </p:nvSpPr>
        <p:spPr>
          <a:xfrm>
            <a:off x="6400800" y="4160520"/>
            <a:ext cx="4892040" cy="1920240"/>
          </a:xfrm>
          <a:prstGeom prst="roundRect">
            <a:avLst>
              <a:gd fmla="val 16667" name="adj"/>
            </a:avLst>
          </a:prstGeom>
          <a:solidFill>
            <a:srgbClr val="16171C"/>
          </a:solidFill>
          <a:ln cap="flat" cmpd="sng" w="12700">
            <a:solidFill>
              <a:srgbClr val="2A2C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5"/>
          <p:cNvSpPr/>
          <p:nvPr/>
        </p:nvSpPr>
        <p:spPr>
          <a:xfrm>
            <a:off x="6400800" y="4160520"/>
            <a:ext cx="91440" cy="1920240"/>
          </a:xfrm>
          <a:prstGeom prst="rect">
            <a:avLst/>
          </a:prstGeom>
          <a:solidFill>
            <a:srgbClr val="A56B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5"/>
          <p:cNvSpPr txBox="1"/>
          <p:nvPr/>
        </p:nvSpPr>
        <p:spPr>
          <a:xfrm>
            <a:off x="6720840" y="4416552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導入がかんたん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5"/>
          <p:cNvSpPr txBox="1"/>
          <p:nvPr/>
        </p:nvSpPr>
        <p:spPr>
          <a:xfrm>
            <a:off x="6720840" y="4937759"/>
            <a:ext cx="4343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9A9AAA"/>
                </a:solidFill>
                <a:latin typeface="Meiryo"/>
                <a:ea typeface="Meiryo"/>
                <a:cs typeface="Meiryo"/>
                <a:sym typeface="Meiryo"/>
              </a:rPr>
              <a:t>ブラウザだけで動作・インストール不要。単一HTMLで完結し、パスワード保護にも対応。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5"/>
          <p:cNvSpPr txBox="1"/>
          <p:nvPr/>
        </p:nvSpPr>
        <p:spPr>
          <a:xfrm>
            <a:off x="914400" y="635508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A9AAA"/>
                </a:solidFill>
                <a:latin typeface="Meiryo"/>
                <a:ea typeface="Meiryo"/>
                <a:cs typeface="Meiryo"/>
                <a:sym typeface="Meiryo"/>
              </a:rPr>
              <a:t>公開URL：https://ogshaw03.github.io/laycat/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6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A9B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6"/>
          <p:cNvSpPr/>
          <p:nvPr/>
        </p:nvSpPr>
        <p:spPr>
          <a:xfrm>
            <a:off x="256032" y="0"/>
            <a:ext cx="91440" cy="6858000"/>
          </a:xfrm>
          <a:prstGeom prst="rect">
            <a:avLst/>
          </a:prstGeom>
          <a:solidFill>
            <a:srgbClr val="A56B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aycat_icon_login.png" id="272" name="Google Shape;27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8407" y="1325880"/>
            <a:ext cx="4754880" cy="2668307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6"/>
          <p:cNvSpPr txBox="1"/>
          <p:nvPr/>
        </p:nvSpPr>
        <p:spPr>
          <a:xfrm>
            <a:off x="914400" y="3900000"/>
            <a:ext cx="10360152" cy="1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2F3F7"/>
                </a:solidFill>
                <a:latin typeface="Meiryo"/>
                <a:ea typeface="Meiryo"/>
                <a:cs typeface="Meiryo"/>
                <a:sym typeface="Meiryo"/>
              </a:rPr>
              <a:t>「ここ、こうして」が、すぐ伝わる。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7C7CF"/>
                </a:solidFill>
                <a:latin typeface="Meiryo"/>
                <a:ea typeface="Meiryo"/>
                <a:cs typeface="Meiryo"/>
                <a:sym typeface="Meiryo"/>
              </a:rPr>
              <a:t>描く・見る・共有。ブラウザ 1 つで。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LayCAT が、現場のやりとりを軽くします。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6"/>
          <p:cNvSpPr txBox="1"/>
          <p:nvPr/>
        </p:nvSpPr>
        <p:spPr>
          <a:xfrm>
            <a:off x="914400" y="6263640"/>
            <a:ext cx="10360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A9BFF"/>
                </a:solidFill>
                <a:latin typeface="Meiryo"/>
                <a:ea typeface="Meiryo"/>
                <a:cs typeface="Meiryo"/>
                <a:sym typeface="Meiryo"/>
              </a:rPr>
              <a:t>https://ogshaw03.github.io/laycat/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